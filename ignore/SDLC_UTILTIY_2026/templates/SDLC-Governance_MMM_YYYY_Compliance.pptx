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SDLC Governance KPI Progress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Release KPI</c:v>
                </c:pt>
              </c:strCache>
            </c:strRef>
          </c:tx>
          <c:cat>
            <c:multiLvlStrRef>
              <c:f>Sheet1!$A$2:$B$14</c:f>
              <c:multiLvlStrCache>
                <c:ptCount val="13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Aug</c:v>
                  </c:pt>
                  <c:pt idx="12">
                    <c:v>Sep</c:v>
                  </c:pt>
                </c:lvl>
                <c:lvl>
                  <c:pt idx="0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0.00%</c:formatCode>
                <c:ptCount val="1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Automation KPI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multiLvlStrRef>
              <c:f>Sheet1!$A$2:$B$14</c:f>
              <c:multiLvlStrCache>
                <c:ptCount val="13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Aug</c:v>
                  </c:pt>
                  <c:pt idx="12">
                    <c:v>Sep</c:v>
                  </c:pt>
                </c:lvl>
                <c:lvl>
                  <c:pt idx="0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0.00%</c:formatCode>
                <c:ptCount val="13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  <c:pt idx="4">
                  <c:v>0.95</c:v>
                </c:pt>
                <c:pt idx="5">
                  <c:v>0.95</c:v>
                </c:pt>
                <c:pt idx="6">
                  <c:v>0.95</c:v>
                </c:pt>
                <c:pt idx="7">
                  <c:v>0.95</c:v>
                </c:pt>
                <c:pt idx="8">
                  <c:v>0.95</c:v>
                </c:pt>
                <c:pt idx="9">
                  <c:v>0.95</c:v>
                </c:pt>
                <c:pt idx="10">
                  <c:v>0.95</c:v>
                </c:pt>
                <c:pt idx="11">
                  <c:v>0.95</c:v>
                </c:pt>
                <c:pt idx="12">
                  <c:v>0.95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/>
              <a:t>SDLC Governance RMC Compliance - </a:t>
            </a:r>
            <a:r>
              <a:rPr sz="2400" b="1"/>
              <a:t>{{MO</a:t>
            </a:r>
            <a:r>
              <a:rPr sz="2400" b="0"/>
              <a:t>N}} {{YY</a:t>
            </a:r>
            <a:r>
              <a:rPr sz="2400" b="0"/>
              <a:t>YY}}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/>
              <a:t>Compliance - SDLC Governance RMC Compliance - KPI and Targets</a:t>
            </a:r>
          </a:p>
        </p:txBody>
      </p:sp>
      <p:graphicFrame>
        <p:nvGraphicFramePr>
          <p:cNvPr id="3" name="tbl_kpi_targets"/>
          <p:cNvGraphicFramePr>
            <a:graphicFrameLocks noGrp="1"/>
          </p:cNvGraphicFramePr>
          <p:nvPr/>
        </p:nvGraphicFramePr>
        <p:xfrm>
          <a:off x="6858000" y="228600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Sep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ind_1"/>
          <p:cNvSpPr/>
          <p:nvPr/>
        </p:nvSpPr>
        <p:spPr>
          <a:xfrm>
            <a:off x="8001000" y="3657600"/>
            <a:ext cx="320040" cy="27432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d_2"/>
          <p:cNvSpPr/>
          <p:nvPr/>
        </p:nvSpPr>
        <p:spPr>
          <a:xfrm>
            <a:off x="9006840" y="3657600"/>
            <a:ext cx="320040" cy="27432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nd_3"/>
          <p:cNvSpPr/>
          <p:nvPr/>
        </p:nvSpPr>
        <p:spPr>
          <a:xfrm>
            <a:off x="10012680" y="3657600"/>
            <a:ext cx="320040" cy="27432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d_4"/>
          <p:cNvSpPr/>
          <p:nvPr/>
        </p:nvSpPr>
        <p:spPr>
          <a:xfrm>
            <a:off x="11018520" y="3657600"/>
            <a:ext cx="320040" cy="27432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/>
              <a:t>Static slide - must not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/>
              <a:t>Compliance - SDLC Governance RMC Compliance - </a:t>
            </a:r>
            <a:r>
              <a:rPr sz="2400" b="0"/>
              <a:t>{{MON}} {{YYYY}}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&gt; {{STATUS_LINE}}</a:t>
            </a:r>
          </a:p>
        </p:txBody>
      </p:sp>
      <p:graphicFrame>
        <p:nvGraphicFramePr>
          <p:cNvPr id="4" name="tbl_release_summary"/>
          <p:cNvGraphicFramePr>
            <a:graphicFrameLocks noGrp="1"/>
          </p:cNvGraphicFramePr>
          <p:nvPr/>
        </p:nvGraphicFramePr>
        <p:xfrm>
          <a:off x="457200" y="155448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% Release Compliant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# Total Releases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# Release Compliant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# Release Non Compliant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owner@example.com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bl_automation_summary"/>
          <p:cNvGraphicFramePr>
            <a:graphicFrameLocks noGrp="1"/>
          </p:cNvGraphicFramePr>
          <p:nvPr/>
        </p:nvGraphicFramePr>
        <p:xfrm>
          <a:off x="6217920" y="155448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% Controls Closed 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# Total Control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# Control Closed 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# Control Closed Manual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owner@example.com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95.60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_kpi_progress"/>
          <p:cNvGraphicFramePr>
            <a:graphicFrameLocks noGrp="1"/>
          </p:cNvGraphicFramePr>
          <p:nvPr/>
        </p:nvGraphicFramePr>
        <p:xfrm>
          <a:off x="457200" y="2743200"/>
          <a:ext cx="10972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/>
              <a:t>Portfolio detail (later)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